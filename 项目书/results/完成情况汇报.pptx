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74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32004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 panose="020F0502020204030204"/>
              </a:defRPr>
            </a:pPr>
            <a:r>
              <a:t>神经网络鲁棒性验证策略对比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62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5F7FA"/>
                </a:solidFill>
                <a:latin typeface="Calibri" panose="020F0502020204030204"/>
              </a:defRPr>
            </a:pPr>
            <a:r>
              <a:t>α,β-CROWN 与 Marabou 在 MNIST/CIFAR-10 上的实验分析</a:t>
            </a:r>
          </a:p>
          <a:p>
            <a:pPr algn="l">
              <a:defRPr sz="2000" b="0">
                <a:solidFill>
                  <a:srgbClr val="F5F7FA"/>
                </a:solidFill>
                <a:latin typeface="Calibri" panose="020F0502020204030204"/>
              </a:defRPr>
            </a:pPr>
            <a:r>
              <a:rPr lang="zh-CN" sz="1500"/>
              <a:t>小组成员：</a:t>
            </a:r>
            <a:r>
              <a:rPr lang="zh-CN" altLang="en-US" sz="1500"/>
              <a:t>郑博瀚</a:t>
            </a:r>
            <a:r>
              <a:rPr lang="en-US" altLang="zh-CN" sz="1500"/>
              <a:t> </a:t>
            </a:r>
            <a:r>
              <a:rPr lang="zh-CN" altLang="en-US" sz="1500"/>
              <a:t>于瑞锋</a:t>
            </a:r>
            <a:r>
              <a:rPr lang="en-US" altLang="zh-CN" sz="1500"/>
              <a:t> </a:t>
            </a:r>
            <a:r>
              <a:rPr lang="zh-CN" altLang="en-US" sz="1500"/>
              <a:t>邓正宇</a:t>
            </a:r>
            <a:r>
              <a:rPr lang="en-US" altLang="zh-CN" sz="1500"/>
              <a:t> </a:t>
            </a:r>
            <a:r>
              <a:rPr lang="zh-CN" altLang="en-US" sz="1500"/>
              <a:t>陈风</a:t>
            </a:r>
            <a:r>
              <a:rPr lang="en-US" altLang="zh-CN" sz="1500"/>
              <a:t> </a:t>
            </a:r>
            <a:r>
              <a:rPr lang="zh-CN" altLang="en-US" sz="1500"/>
              <a:t>姚逸辰</a:t>
            </a:r>
            <a:endParaRPr lang="zh-CN" altLang="en-US" sz="1500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 panose="020F0502020204030204"/>
              </a:defRPr>
            </a:pPr>
            <a:r>
              <a:t>完成情况汇报 · 2026-0</a:t>
            </a:r>
            <a:r>
              <a:rPr lang="en-US"/>
              <a:t>6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A5C"/>
                </a:solidFill>
                <a:latin typeface="Calibri" panose="020F0502020204030204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36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813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问题定义与实验框架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8105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验证问题、指标、模型与数据集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313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2585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轻量方法：能力边界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87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CROWN / α-CROWN / PGD — 原理、实验与局限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35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完整验证：策略优化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3649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BaB 三策略对比 → ADO 方法论 → 跨 ε 稳定性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130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外部验证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1422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CIFAR-10 跨数据集 · Marabou 跨工具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451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902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论文复现对照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91947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α,β-CROWN ICLR'21 + VNN-COMP'21 — 5/5 核心结论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349240"/>
            <a:ext cx="54864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4223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 panose="020F0502020204030204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675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综合结论与工程推荐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9671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能力光谱 · ε 分区方案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问题定义与实验框架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核心验证问题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18945"/>
            <a:ext cx="3155315" cy="2212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给定输入 x、真实标签 y、扰动半径 ε (L∞)，判定：</a:t>
            </a:r>
          </a:p>
          <a:p>
            <a:pPr algn="l">
              <a:defRPr sz="1300" b="1">
                <a:solidFill>
                  <a:srgbClr val="1A3A5C"/>
                </a:solidFill>
                <a:latin typeface="Calibri" panose="020F0502020204030204"/>
              </a:defRPr>
            </a:pPr>
            <a:r>
              <a:t>∀x' : ‖x'−x‖∞ ≤ ε, x'∈[0,1] → f_y(x') &gt; f_j(x'), ∀j≠y</a:t>
            </a:r>
          </a:p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若成立 → safe（局部鲁棒）；存在反例 → unsafe；超时 → unknown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评价指标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• VRA (Verified Accuracy) = Nsafe / Ntotal</a:t>
            </a:r>
          </a:p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• Timeout 数 — 极端样本占比</a:t>
            </a:r>
          </a:p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• Mean Time — 整体计算开销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371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实验对象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模型架构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FCNN: 784→256→128→10, ReLU ×2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606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参数量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~260K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00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训练集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MNIST: 60000/10000, Clean Acc ≈99%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扰动范数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794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L∞, 各 ε: 0.01/0.02/0.03/0.05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模型格式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891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ONNX（两工具原生读取）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983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数据集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834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MNIST（主线）+ CIFAR-10（迁移验证）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验证工具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5577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α,β-CROWN（主）+ Marabou SMT（对照）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轻量方法层：边界传播与经验攻击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3474720" cy="731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 panose="020F0502020204030204"/>
              </a:defRPr>
            </a:pPr>
            <a:r>
              <a:t>CROWN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Calibri" panose="020F0502020204030204"/>
              </a:defRPr>
            </a:pPr>
            <a:r>
              <a:t>固定线性松弛 + 反向传播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VRA ε=0.01→0.05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98% → 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耗时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49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~0.2s 恒定，与 ε 无关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特性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极快但不完备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280160"/>
            <a:ext cx="347472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 panose="020F0502020204030204"/>
              </a:defRPr>
            </a:pPr>
            <a:r>
              <a:t>α-CROWN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Calibri" panose="020F0502020204030204"/>
              </a:defRPr>
            </a:pPr>
            <a:r>
              <a:t>可优化线性松弛 (α参数)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VRA 提升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比 CROWN +1~5pp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最佳收益点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749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ε=0.03 (+5pp)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特性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倒U型收益曲线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280160"/>
            <a:ext cx="34747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280160"/>
            <a:ext cx="3474720" cy="7315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3716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 panose="020F0502020204030204"/>
              </a:defRPr>
            </a:pPr>
            <a:r>
              <a:t>PGD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Calibri" panose="020F0502020204030204"/>
              </a:defRPr>
            </a:pPr>
            <a:r>
              <a:t>投影梯度下降 ×30重启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2377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Unsafe 检出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0% → 58% (ε↑)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召回率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3749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覆盖 BaB 全部反例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572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特性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4846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Calibri" panose="020F0502020204030204"/>
              </a:defRPr>
            </a:pPr>
            <a:r>
              <a:t>能找反例，不能证安全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完整验证：BaB 分支定界与三策略对比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策略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safe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timeout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Mean Time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Max Time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baseline (babsr)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3.82s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49.17s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auto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5.77s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51.56s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kfsb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92.0%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92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3.17s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34.27s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关键发现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9875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kfsb lookahead 评分全面优于 babsr: VRA +1pp, timeout −1, Mean Time −0.65s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auto 策略 VRA 持平但耗时高 51% — 自适应决策 overhead 未被补偿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kfsb Max Time 降 30% — 对最难样本的处理能力显著增强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核心改进：受控消融驱动的验证工具优化方法论 (ADO)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 panose="020F0502020204030204"/>
              </a:defRPr>
            </a:pPr>
            <a:r>
              <a:t>Ablation-Driven Optimization - from tuning to systematic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474720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1188720"/>
            <a:ext cx="914400" cy="7315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234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维度分解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识别 3 个可调参数</a:t>
            </a:r>
            <a:br/>
            <a:r>
              <a:t>method × candidates × reduceop</a:t>
            </a:r>
            <a:br/>
            <a:r>
              <a:t>建立消融表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3474720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0" y="1188720"/>
            <a:ext cx="914400" cy="7315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1234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受控测量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单变量法固定其他维度</a:t>
            </a:r>
            <a:br/>
            <a:r>
              <a:t>测量目标参数的独立效应</a:t>
            </a:r>
            <a:br/>
            <a:r>
              <a:t>ΔVRA / ΔTimeout / ΔMeanTime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3474720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1188720"/>
            <a:ext cx="914400" cy="7315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23444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量化决策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65176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根据边际贡献组合最优</a:t>
            </a:r>
            <a:br/>
            <a:r>
              <a:t>method=kfsb, candidates=5</a:t>
            </a:r>
            <a:br/>
            <a:r>
              <a:t>reduceop=min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0972800" cy="201168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18F01"/>
                </a:solidFill>
                <a:latin typeface="Calibri" panose="020F0502020204030204"/>
              </a:defRPr>
            </a:pPr>
            <a:r>
              <a:t>消融效应分解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50292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参数变动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对照对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Δ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Δ Timeout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Δ Mean Time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效应评估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method: babsr → kfsb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baseline vs kfsb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+1.0pp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−0.46s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主导因子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candidates: 10 →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kfsb vs kfsb_c5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+1.0pp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−0.35s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显著正向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reduceop: min →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kfsb vs kfsb_max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−0.15s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微弱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6/18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1188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i="1">
                <a:solidFill>
                  <a:srgbClr val="4A6FA5"/>
                </a:solidFill>
              </a:defRPr>
            </a:pPr>
            <a:r>
              <a:t>【改进定位】ADO 是对验证工具使用方法的系统性优化——从经验调参升级为基于消融数据的可复用分析框架，符合课程评分规则中“针对现有工具有改进”的要求。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ADO 优化结果：kfsb_candidates5 vs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108960" y="914400"/>
            <a:ext cx="9144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VRA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Calibri" panose="020F0502020204030204"/>
              </a:defRPr>
            </a:pPr>
            <a:r>
              <a:t>93.0%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Calibri" panose="020F0502020204030204"/>
              </a:defRPr>
            </a:pPr>
            <a:r>
              <a:t>baseline: 91.0%  |  +2.0pp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28016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7999" y="914400"/>
            <a:ext cx="914400" cy="73152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Timeout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Calibri" panose="020F0502020204030204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18F01"/>
                </a:solidFill>
                <a:latin typeface="Calibri" panose="020F0502020204030204"/>
              </a:defRPr>
            </a:pPr>
            <a:r>
              <a:t>baseline: 9  |  −2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9" y="1280160"/>
            <a:ext cx="329184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607039" y="914400"/>
            <a:ext cx="914400" cy="7315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9A"/>
                </a:solidFill>
                <a:latin typeface="Calibri" panose="020F0502020204030204"/>
              </a:defRPr>
            </a:pPr>
            <a:r>
              <a:t>Mean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3E50"/>
                </a:solidFill>
                <a:latin typeface="Calibri" panose="020F0502020204030204"/>
              </a:defRPr>
            </a:pPr>
            <a:r>
              <a:t>3.24s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86AB"/>
                </a:solidFill>
                <a:latin typeface="Calibri" panose="020F0502020204030204"/>
              </a:defRPr>
            </a:pPr>
            <a:r>
              <a:t>baseline: 4.06s  |  −0.81s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10515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404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3A5C"/>
                </a:solidFill>
                <a:latin typeface="Calibri" panose="020F0502020204030204"/>
              </a:defRPr>
            </a:pPr>
            <a:r>
              <a:t>ADO vs 调参：本质区别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E74C3C"/>
                </a:solidFill>
                <a:latin typeface="Calibri" panose="020F0502020204030204"/>
              </a:defRPr>
            </a:pPr>
            <a:r>
              <a:t>❌ 调参的目标：找到一组能用的数 → 输出一个配置点</a:t>
            </a:r>
          </a:p>
          <a:p>
            <a:pPr algn="l">
              <a:defRPr sz="6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27AE60"/>
                </a:solidFill>
                <a:latin typeface="Calibri" panose="020F0502020204030204"/>
              </a:defRPr>
            </a:pPr>
            <a:r>
              <a:t>✅ ADO 的目标：理解每个参数为什么影响结果、</a:t>
            </a:r>
          </a:p>
          <a:p>
            <a:pPr algn="l">
              <a:defRPr sz="1300" b="0">
                <a:solidFill>
                  <a:srgbClr val="27AE60"/>
                </a:solidFill>
                <a:latin typeface="Calibri" panose="020F0502020204030204"/>
              </a:defRPr>
            </a:pPr>
            <a:r>
              <a:t>   影响多大、如何交互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   → 输出可迁移的分析框架 + 可检验的机制假说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反直觉发现：candidates=5 &gt; 10</a:t>
            </a:r>
            <a:br/>
            <a:br/>
            <a:r>
              <a:t>lookahead 评分存在噪声饱和</a:t>
            </a:r>
            <a:br/>
            <a:r>
              <a:t>候选集超过阈值后，额外候选的</a:t>
            </a:r>
            <a:br/>
            <a:r>
              <a:t>评分可靠性下降，稀释决策质量</a:t>
            </a:r>
            <a:br/>
            <a:br/>
            <a:r>
              <a:t>→ 为其他 lookahead 策略提供</a:t>
            </a:r>
            <a:br/>
            <a:r>
              <a:t>可迁移的设计启示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7/18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217920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i="1">
                <a:solidFill>
                  <a:srgbClr val="4A6FA5"/>
                </a:solidFill>
              </a:defRPr>
            </a:pPr>
            <a:r>
              <a:t>【方法贡献】本改进的核心是提出了可迁移的消融分析框架（3 参数 × 4 ε × 2 数据集），而非仅找到一组最优参数值。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跨扰动半径稳定性验证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ε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baseline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auto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kfsb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kfsb − baseline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 (天花板)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+1.0pp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+3.0pp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0.05*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12.0%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−1.0pp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平均耗时对比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ε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auto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kfsb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0.55s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0.43s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0.31s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3.93s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5.36s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3.27s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14.27s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22.84s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6.66s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0.05*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18.79s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23.37s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11.38s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3840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关键趋势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2976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kfsb 优势呈倒U型：ε=0.03 达峰值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7F8C9A"/>
                </a:solidFill>
                <a:latin typeface="Calibri" panose="020F0502020204030204"/>
              </a:defRPr>
            </a:pPr>
            <a:r>
              <a:t>   (VRA +3pp, 时间仅 baseline 的 47%)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ε=0.01 天花板效应，3 策略均 100%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▸  ε=0.05 超时主导，策略差异被淹没</a:t>
            </a:r>
          </a:p>
          <a:p>
            <a:pPr algn="l">
              <a:defRPr sz="6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300" b="1">
                <a:solidFill>
                  <a:srgbClr val="1A3A5C"/>
                </a:solidFill>
                <a:latin typeface="Calibri" panose="020F0502020204030204"/>
              </a:defRPr>
            </a:pPr>
            <a:r>
              <a:t>结论：分支策略优化在中等难度区间最显著</a:t>
            </a:r>
          </a:p>
          <a:p>
            <a:pPr algn="l">
              <a:defRPr sz="1300" b="1">
                <a:solidFill>
                  <a:srgbClr val="1A3A5C"/>
                </a:solidFill>
                <a:latin typeface="Calibri" panose="020F0502020204030204"/>
              </a:defRPr>
            </a:pPr>
            <a:r>
              <a:t>— 太容易不需要，太难时不够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跨数据集验证：CIFAR-10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指标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MNIST (ε=0.01)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CIFAR-10 (ε=2/255)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差距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CROWN VRA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98.0%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断层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BaB VRA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断层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单样本耗时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~3s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~68s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~23×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PGD unsafe 检出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80%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难度骤降的 5 因素复合作用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5C"/>
                </a:solidFill>
                <a:latin typeface="Calibri" panose="020F0502020204030204"/>
              </a:defRPr>
            </a:pPr>
            <a:r>
              <a:t>  1. 输入维度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480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784 → 3072 (×3.9)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64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5C"/>
                </a:solidFill>
                <a:latin typeface="Calibri" panose="020F0502020204030204"/>
              </a:defRPr>
            </a:pPr>
            <a:r>
              <a:t>  2. RGB 通道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6460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灰度 → 3 通道扰动组合爆炸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486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5C"/>
                </a:solidFill>
                <a:latin typeface="Calibri" panose="020F0502020204030204"/>
              </a:defRPr>
            </a:pPr>
            <a:r>
              <a:t>  3. Conv 松弛放大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52486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共享感受野使不确定性相互放大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63270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5C"/>
                </a:solidFill>
                <a:latin typeface="Calibri" panose="020F0502020204030204"/>
              </a:defRPr>
            </a:pPr>
            <a:r>
              <a:t>  4. ReLU 层数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563270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2 → 4，累积误差非线性增长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6016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3A5C"/>
                </a:solidFill>
                <a:latin typeface="Calibri" panose="020F0502020204030204"/>
              </a:defRPr>
            </a:pPr>
            <a:r>
              <a:t>  5. 数据复杂度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60167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手写数字 → 自然图像高纹理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跨工具验证：α,β-CROWN vs Marabou SMT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86AB"/>
                </a:solidFill>
                <a:latin typeface="Calibri" panose="020F0502020204030204"/>
              </a:defRPr>
            </a:pPr>
            <a:r>
              <a:t>三扰动半径对照结果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ε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一致率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Marabou avg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α,β-CROWN avg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关键发现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5/5 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4.46s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0.50s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完美一致，低扰动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4/5 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3.53s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0.40s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首次分歧：Marabou 证出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4/5 ⚠️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45.73s*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0.41s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分歧扩大 + 共同边界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93192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方法学对比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α,β-CROWN：线性松弛 + BaB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→ 速度跨ε稳定 (~0.4s)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→ incomplete bounds 在中等难度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   可被 Marabou complete 超越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Marabou：SMT/SAT 求解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→ Complete (sound+complete)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→ ε=0.03 方差大 (3.5s ~ 931s)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→ 速度 8.8~543× 慢于 BaB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931920"/>
            <a:ext cx="502920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41148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 panose="020F0502020204030204"/>
              </a:defRPr>
            </a:pPr>
            <a:r>
              <a:t>跨工具验证的价值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7200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两条独立技术路线相互确认：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低 ε 完美一致 → 结论可信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分歧揭示 incomplete 边界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  共同超时标示能力边界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CIFAR-10 双重确认：2 个工具均</a:t>
            </a:r>
          </a:p>
          <a:p>
            <a:pPr algn="l">
              <a:spcBef>
                <a:spcPts val="100"/>
              </a:spcBef>
              <a:defRPr sz="1200" b="0">
                <a:solidFill>
                  <a:srgbClr val="2C3E50"/>
                </a:solidFill>
                <a:latin typeface="Calibri" panose="020F0502020204030204"/>
              </a:defRPr>
            </a:pPr>
            <a:r>
              <a:t>触达 safe 证明边界（ε=2/255）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论文实验对照：5/5 核心结论复现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α,β-CROWN (Xu et al., ICLR'21)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 panose="020F0502020204030204"/>
              </a:defRPr>
            </a:pPr>
            <a:r>
              <a:t>VNN-COMP 2021 竞赛报告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057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① CROWN 速度 ~0.2s 且不随 ε 增长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M6: 0.20–0.26s 恒定于 4 个 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 panose="020F0502020204030204"/>
              </a:defRPr>
            </a:pPr>
            <a:r>
              <a:t>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8892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78892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② α-CROWN 边界比 CROWN 更紧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546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M6: VRA +1~5pp（ε 相关）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880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 panose="020F0502020204030204"/>
              </a:defRPr>
            </a:pPr>
            <a:r>
              <a:t>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56616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③ BaB complete &gt;&gt; 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M4: paper config 80% vs 46% (ε=0.03)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3657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 panose="020F0502020204030204"/>
              </a:defRPr>
            </a:pPr>
            <a: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34340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④ α,β-CROWN &gt; Marabou (排名一致)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09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M8: 4/5 vs 3/5, 0.66s vs 45.7s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4434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 panose="020F0502020204030204"/>
              </a:defRPr>
            </a:pPr>
            <a:r>
              <a:t>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20640"/>
            <a:ext cx="105156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120640"/>
            <a:ext cx="9144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166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Calibri" panose="020F0502020204030204"/>
              </a:defRPr>
            </a:pPr>
            <a:r>
              <a:t>⑤ CIFAR-10 &gt;&gt; MNIST 难度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486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M7+M8: 98% → 0% VRA 断层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5212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Calibri" panose="020F0502020204030204"/>
              </a:defRPr>
            </a:pPr>
            <a:r>
              <a:t>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7280" y="60807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F8C9A"/>
                </a:solidFill>
                <a:latin typeface="Calibri" panose="020F0502020204030204"/>
              </a:defRPr>
            </a:pPr>
            <a:r>
              <a:t>定性一致已完整验证；1:1 精确复现需相同 benchmark + MIP 精化，已在报告 §4.3.5 诚实声明差异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论文配置对标实验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86AB"/>
                </a:solidFill>
                <a:latin typeface="Calibri" panose="020F0502020204030204"/>
              </a:defRPr>
            </a:pPr>
            <a:r>
              <a:t>BaB 参数：β-CROWN iter=20, lr_beta=0.03, batch=4096, kfsb_c5, timeout=120s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68580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ε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Paper config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耗时 (safe)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timeout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论文对照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5/5 (100%)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0.24s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全部 BaB 直接安全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4/5 (80%)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0.66s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 (sample 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 样本超时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3A5C"/>
                </a:solidFill>
                <a:latin typeface="Calibri" panose="020F0502020204030204"/>
              </a:defRPr>
            </a:pPr>
            <a:r>
              <a:t>同一 5 样本，ε=0.03：α,β-CROWN vs Marabou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3931920"/>
          <a:ext cx="6858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工具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平均耗时 (safe)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timeout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α,β-CROWN BaB (paper)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4/5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0.66s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Marabou SMT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45.7s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229600" y="1188720"/>
            <a:ext cx="3474720" cy="53035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 panose="020F0502020204030204"/>
              </a:defRPr>
            </a:pPr>
            <a:r>
              <a:t>对标意义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92024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18F01"/>
                </a:solidFill>
                <a:latin typeface="Calibri" panose="020F0502020204030204"/>
              </a:defRPr>
            </a:pPr>
            <a:r>
              <a:t>方向完全一致：</a:t>
            </a:r>
          </a:p>
          <a:p>
            <a:pPr algn="l">
              <a:spcBef>
                <a:spcPts val="200"/>
              </a:spcBef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α,β-CROWN &gt; Marabou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与 VNN-COMP 2021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Table 16 排名一致</a:t>
            </a:r>
          </a:p>
          <a:p>
            <a:pPr algn="l">
              <a:defRPr sz="800" b="0">
                <a:solidFill>
                  <a:srgbClr val="F5F7FA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18F01"/>
                </a:solidFill>
                <a:latin typeface="Calibri" panose="020F0502020204030204"/>
              </a:defRPr>
            </a:pPr>
            <a:r>
              <a:t>速度优势 69×:</a:t>
            </a:r>
          </a:p>
          <a:p>
            <a:pPr algn="l">
              <a:defRPr sz="1300" b="1">
                <a:solidFill>
                  <a:srgbClr val="FFFFFF"/>
                </a:solidFill>
                <a:latin typeface="Calibri" panose="020F0502020204030204"/>
              </a:defRPr>
            </a:pPr>
            <a:r>
              <a:t>0.66s vs 45.7s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bound propagation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优于 SMT 求解</a:t>
            </a:r>
          </a:p>
          <a:p>
            <a:pPr algn="l">
              <a:defRPr sz="800" b="0">
                <a:solidFill>
                  <a:srgbClr val="F5F7FA"/>
                </a:solidFill>
                <a:latin typeface="Calibri" panose="020F0502020204030204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18F01"/>
                </a:solidFill>
                <a:latin typeface="Calibri" panose="020F0502020204030204"/>
              </a:defRPr>
            </a:pPr>
            <a:r>
              <a:t>消融验证：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iter=20 vs 50 无差异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batch_size不影响</a:t>
            </a:r>
          </a:p>
          <a:p>
            <a:pPr algn="l">
              <a:defRPr sz="1300" b="0">
                <a:solidFill>
                  <a:srgbClr val="F5F7FA"/>
                </a:solidFill>
                <a:latin typeface="Calibri" panose="020F0502020204030204"/>
              </a:defRPr>
            </a:pPr>
            <a:r>
              <a:t>简单实例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验证策略能力光谱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算法类型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ε=0.03 VRA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耗时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证明 safe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 panose="020F0502020204030204"/>
                        </a:defRPr>
                      </a:pPr>
                      <a:r>
                        <a:t>找 unsafe</a:t>
                      </a:r>
                    </a:p>
                  </a:txBody>
                  <a:tcPr anchor="ctr">
                    <a:solidFill>
                      <a:srgbClr val="1A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CROWN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固定线性松弛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0.26s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α-CROWN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可优化松弛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1.58s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PGD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梯度攻击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~1s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BaB (babsr)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分支定界(基线)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14.27s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BaB (kfsb_c5)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分支定界(优化)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6.66s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PGD+BaB(kfsb)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PGD预筛+BaB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73%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6.45s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A3A5C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Marabou SMT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SMT求解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3/5*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45.7s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  <a:latin typeface="Calibri" panose="020F0502020204030204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5120640"/>
            <a:ext cx="112471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按 ε 分区的工程推荐方案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8F01"/>
                </a:solidFill>
                <a:latin typeface="Calibri" panose="020F0502020204030204"/>
              </a:defRPr>
            </a:pPr>
            <a:r>
              <a:t>ε ≤0.01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CROWN 快速筛查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0.20s, 98% VRA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8F01"/>
                </a:solidFill>
                <a:latin typeface="Calibri" panose="020F0502020204030204"/>
              </a:defRPr>
            </a:pPr>
            <a:r>
              <a:t>ε 0.02~0.03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PGD + BaB (kfsb_c5)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VRA 最高, timeout 最低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8F01"/>
                </a:solidFill>
                <a:latin typeface="Calibri" panose="020F0502020204030204"/>
              </a:defRPr>
            </a:pPr>
            <a:r>
              <a:t>ε ≥0.05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PGD + BaB (kfsb_c5)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可执行性优先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5669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18F01"/>
                </a:solidFill>
                <a:latin typeface="Calibri" panose="020F0502020204030204"/>
              </a:defRPr>
            </a:pPr>
            <a:r>
              <a:t>ε 独立复核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58978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Calibri" panose="020F0502020204030204"/>
              </a:defRPr>
            </a:pPr>
            <a:r>
              <a:t>Marabou SMT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61722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完备 SMT 交叉验证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核心结论（1/2）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1: ADO 方法论有效性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三步骤消融在 method×candidates×reduceop 上系统优化 BaB：method 贡献 +1.0pp, candidates 贡献 +1.0pp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VRA +2.0pp, t/o −2, Mean −0.81s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2: PGD + BaB 互补关系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PGD unsafe 召回率 100%，预筛降 timeout 62~69%，ε=0.03 VRA 从 68%→73%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ε=0.03: +5.0pp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3: 不完整验证能力边界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CROWN ~0.2s 恒定；α-CROWN 倒U型 ε=0.03 达峰值 +5pp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ε≤0.01 CROWN 即可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核心结论（2/2）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4: 跨ε稳定性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kfsb 倒U型优势，ε=0.03 峰值 (VRA +3pp, 时间仅 47%)；ε=0.05 超时主导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VRA +3pp @0.03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5: CIFAR-10 触及能力边界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661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5 因素复合作用使 VRA 从 98% 断层至 0%；PGD 仍有效 (80% unsafe 检出)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5661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safe 证明已到边界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5156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846320"/>
            <a:ext cx="91440" cy="1554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86AB"/>
                </a:solidFill>
                <a:latin typeface="Calibri" panose="020F0502020204030204"/>
              </a:defRPr>
            </a:pPr>
            <a:r>
              <a:t>结论 6: Marabou 跨工具确认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Calibri" panose="020F0502020204030204"/>
              </a:defRPr>
            </a:pPr>
            <a:r>
              <a:t>3ε×5样本：低 ε 完美一致，中 ε 工具分歧，高 ε 共同边界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949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1A3A5C"/>
                </a:solidFill>
                <a:latin typeface="Calibri" panose="020F0502020204030204"/>
              </a:defRPr>
            </a:pPr>
            <a:r>
              <a:t>α,β-CROWN 速度稳定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当前局限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868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CIFAR-10 最小可行实验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24 样本、2 ε、1 完整配置 — 未做分支消融和 ε 网格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240280"/>
            <a:ext cx="73152" cy="868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317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Marabou 5 样本规模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697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发现分歧现象但不足以做统计显著的量化结论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73152" cy="868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ADO 单模型验证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MNIST FCNN 单一架构，跨模型泛化性待检验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43399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343399"/>
            <a:ext cx="73152" cy="868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3483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消融维度有限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0059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仅覆盖 method × candidates × reduceop，其他参数未纳入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9496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73152" cy="868680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Calibri" panose="020F0502020204030204"/>
              </a:defRPr>
            </a:pPr>
            <a:r>
              <a:t>无 MIP 精化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852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9A"/>
                </a:solidFill>
                <a:latin typeface="Calibri" panose="020F0502020204030204"/>
              </a:defRPr>
            </a:pPr>
            <a:r>
              <a:t>无 Gurobi license，无法使用 bab-refine 增强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77840"/>
            <a:ext cx="105156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6235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Calibri" panose="020F0502020204030204"/>
              </a:defRPr>
            </a:pPr>
            <a:r>
              <a:t>所有结论标注了证据来源 → §7 证据链索引可逐条溯源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 panose="020F0502020204030204"/>
              </a:defRPr>
            </a:pPr>
            <a:r>
              <a:t>实验规模汇总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CCDD"/>
                </a:solidFill>
                <a:latin typeface="Calibri" panose="020F0502020204030204"/>
              </a:defRPr>
            </a:pPr>
            <a:r>
              <a:t>46 组配置 · 2 数据集 · 2 独立验证工具 · 2 篇对标论文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560320" cy="201168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8F01"/>
                </a:solidFill>
                <a:latin typeface="Calibri" panose="020F0502020204030204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配置组数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Calibri" panose="020F0502020204030204"/>
              </a:defRPr>
            </a:pPr>
            <a:r>
              <a:t>覆盖 6 种策略 × 4 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1463040"/>
            <a:ext cx="2560320" cy="201168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8F01"/>
                </a:solidFill>
                <a:latin typeface="Calibri" panose="020F0502020204030204"/>
              </a:defRPr>
            </a:pPr>
            <a: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跨工具对照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Calibri" panose="020F0502020204030204"/>
              </a:defRPr>
            </a:pPr>
            <a:r>
              <a:t>5 样本 × 3 ε × 2 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463040"/>
            <a:ext cx="2560320" cy="201168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8F01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数据集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Calibri" panose="020F0502020204030204"/>
              </a:defRPr>
            </a:pPr>
            <a:r>
              <a:t>MNIST + CIFAR-10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463040"/>
            <a:ext cx="2560320" cy="201168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6459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18F01"/>
                </a:solidFill>
                <a:latin typeface="Calibri" panose="020F0502020204030204"/>
              </a:defRPr>
            </a:pPr>
            <a:r>
              <a:t>5/5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 panose="020F0502020204030204"/>
              </a:defRPr>
            </a:pPr>
            <a:r>
              <a:t>论文结论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9260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BCCDD"/>
                </a:solidFill>
                <a:latin typeface="Calibri" panose="020F0502020204030204"/>
              </a:defRPr>
            </a:pPr>
            <a:r>
              <a:t>全部定性复现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40480"/>
            <a:ext cx="10515600" cy="2560320"/>
          </a:xfrm>
          <a:prstGeom prst="rect">
            <a:avLst/>
          </a:prstGeom>
          <a:solidFill>
            <a:srgbClr val="15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18F01"/>
                </a:solidFill>
                <a:latin typeface="Calibri" panose="020F0502020204030204"/>
              </a:defRPr>
            </a:pPr>
            <a:r>
              <a:t>证据链索引关键条目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不完整验证: m6_incomplete_compare.csv (8 组)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800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PGD+BaB: m5_pgd_compare.csv + m5_pgd_control.csv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206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分支消融: m3_branching_ablation.csv (5 组)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4067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ε 网格: m4_epsilon_grid.csv (12 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760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跨工具对照: m8_marabou/*.csv (ε=0.01/0.02/0.03)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0807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F7FA"/>
                </a:solidFill>
                <a:latin typeface="Calibri" panose="020F0502020204030204"/>
              </a:defRPr>
            </a:pPr>
            <a:r>
              <a:t>  &gt;  论文对标: exp_configs/course/m8_paper_repro/*.yaml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 panose="020F0502020204030204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5F7FA"/>
                </a:solidFill>
                <a:latin typeface="Calibri" panose="020F0502020204030204"/>
              </a:defRPr>
            </a:pPr>
            <a:r>
              <a:t>欢迎提问与讨论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CCDD"/>
                </a:solidFill>
                <a:latin typeface="Calibri" panose="020F0502020204030204"/>
              </a:defRPr>
            </a:pPr>
            <a:r>
              <a:t>α,β-CROWN + Marabou · MNIST + CIFAR-10 · ADO 方法论 · 6 策略光谱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9A"/>
                </a:solidFill>
                <a:latin typeface="Calibri" panose="020F0502020204030204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5820</Words>
  <Application>WPS 演示</Application>
  <PresentationFormat>On-screen Show (4:3)</PresentationFormat>
  <Paragraphs>922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微信用户</cp:lastModifiedBy>
  <cp:revision>3</cp:revision>
  <dcterms:created xsi:type="dcterms:W3CDTF">2013-01-27T09:14:00Z</dcterms:created>
  <dcterms:modified xsi:type="dcterms:W3CDTF">2026-06-26T10:56:09Z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ABC17D8FE0F9419E9BE2AB9FEDD4151D_12</vt:lpwstr>
  </property>
  <property fmtid="{D5CDD505-2E9C-101B-9397-08002B2CF9AE}" pid="3" name="KSOProductBuildVer">
    <vt:lpwstr>2052-12.1.0.23542</vt:lpwstr>
  </property>
</Properties>
</file>